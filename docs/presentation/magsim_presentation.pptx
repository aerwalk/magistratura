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710160" cy="7315200"/>
          </a:xfrm>
          <a:prstGeom prst="rect">
            <a:avLst/>
          </a:prstGeom>
          <a:solidFill>
            <a:srgbClr val="0B2438"/>
          </a:solidFill>
          <a:ln w="12700">
            <a:solidFill>
              <a:srgbClr val="0B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D54A"/>
                </a:solidFill>
                <a:latin typeface="Segoe UI"/>
              </a:rPr>
              <a:t>Цифровой двойник склада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FFFFFF"/>
                </a:solidFill>
                <a:latin typeface="Segoe UI"/>
              </a:rPr>
              <a:t>MagSim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B9CFE0"/>
                </a:solidFill>
                <a:latin typeface="Segoe UI"/>
              </a:rPr>
              <a:t>Симуляция управления парком роботов-транспортировщиков (РТС) и беспилотного сканера (БВС) на виртуальном складе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9CFE0"/>
                </a:solidFill>
                <a:latin typeface="Segoe UI"/>
              </a:rPr>
              <a:t>Проверьте автоматизацию и её эффект — до покупки реального оборудования. Прозрачные метрики, мониторинг 24/7 и отчётность для обоснования инвестиций.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D54A"/>
                </a:solidFill>
                <a:latin typeface="Segoe UI"/>
              </a:rP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FE0"/>
                </a:solidFill>
                <a:latin typeface="Segoe UI"/>
              </a:rPr>
              <a:t>потенциальное сокращение маршрутов комплектации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53949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D54A"/>
                </a:solidFill>
                <a:latin typeface="Segoe UI"/>
              </a:rPr>
              <a:t>~30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5989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FE0"/>
                </a:solidFill>
                <a:latin typeface="Segoe UI"/>
              </a:rPr>
              <a:t>детекция застрявшего робота вместо часов ожидания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D54A"/>
                </a:solidFill>
                <a:latin typeface="Segoe UI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989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FE0"/>
                </a:solidFill>
                <a:latin typeface="Segoe UI"/>
              </a:rPr>
              <a:t>мониторинг флота, батарей и сервисов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539496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D54A"/>
                </a:solidFill>
                <a:latin typeface="Segoe UI"/>
              </a:rPr>
              <a:t>2 нед.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5989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FE0"/>
                </a:solidFill>
                <a:latin typeface="Segoe UI"/>
              </a:rPr>
              <a:t>демонстрация на сценарии заказчика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Почему автоматизация склада — вопрос «сейчас»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Склады работают на пределе: растёт поток заказов, дорожает персонал, а ошибки планирования обходятся дорого.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2498598" cy="3291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670048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10128"/>
            <a:ext cx="198653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Рост нагрузки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68496"/>
            <a:ext cx="198653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Онлайн-заказы растут каждый год — складам нужно быстрее комплектовать и отгружать больше позиций.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5878" y="2395728"/>
            <a:ext cx="2498598" cy="3291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51910" y="2670048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1910" y="3310128"/>
            <a:ext cx="198653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Кадровый дефицит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1910" y="3968496"/>
            <a:ext cx="198653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Подбор и удержание персонала дорожают; автоматизация перестаёт быть опцией и становится вопросом экономики.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3116" y="2395728"/>
            <a:ext cx="2498598" cy="3291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99148" y="2670048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9148" y="3310128"/>
            <a:ext cx="198653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Высокий риск внедрения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9148" y="3968496"/>
            <a:ext cx="198653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Запуск роботов — крупные инвестиции. Ошибка планирования даёт простой оборудования и убытки.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0354" y="2395728"/>
            <a:ext cx="2498598" cy="3291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46386" y="2670048"/>
            <a:ext cx="502920" cy="502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6386" y="3310128"/>
            <a:ext cx="198653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Нужна 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6386" y="3968496"/>
            <a:ext cx="198653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Безопасный способ оценить алгоритмы и KPI автоматизации до покупки «железа» — цифровой двойник.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ПРОБЛЕМА ЗАКАЗЧИКА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Что мешает сегодня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Без цифрового двойника эффект автоматизации непредсказуем, а процессы «не видны».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Товар не там, где нужно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Частозапрашиваемые позиции лежат в глубине склада — каждый заказ занимает больше времени.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3116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9148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9148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Простои и застревания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9148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Застрявший робот обнаруживают вручную, иногда через часы — склад «стоит».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Внезапный отказ батарей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АКБ выходят из строя без предупреждения → внеплановые простой и замена дороже плановой.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3116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99148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Нет прозрачной аналитики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Отсутствуют объективные цифры: скорость выдачи, загрузка роботов, окупаемость автоматизации.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MagSim — цифровой двойник склада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Живая веб-модель склада, где РТС и БВС выполняют реальные бизнес-операции, а каждая операция измеряется метриками.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Парк специализированных РТС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5 роботов по типам товара (металл, пластик, электроника, дерево, стекло). Задачи: размещение, выдача, ребалансировка.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3116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9148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9148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БВС-сканирование без меток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9148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Беспилотник распознаёт поставки без маркировки, определяет тип товара и направляет его на нужные полки.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Умная диспетчеризация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A* маршрутизация, автономное назначение задач, батчинг до 5 единиц за рейс, обход препятствий и конфликтов.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3116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99148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Авто-ребалансировка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Частозапрашиваемые товары автоматически подтягиваются ближе к зоне выдачи — короче каждый маршрут комплектации.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БИЗНЕС-СЦЕНАРИИ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Как работают ключевые операции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24231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632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Поставка с меткой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7216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Товар с известным типом автоматически попадает в очередь: робот забирает его в зоне приёмки и размещает на полку по приоритету спроса.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43116" y="21488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99148" y="24231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9148" y="30632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Поставка без метки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9148" y="37216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БВС проводит сканирование в зоне приёмки, определяет тип товара, пополняет запас на полках — без ручного разбора.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475488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39496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Заказ клиента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605332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Робот находит ближайшую полку с товаром, забирает и доставляет к выходу. Запасы пополняются автоматически.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3116" y="448056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99148" y="475488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9148" y="539496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Ребалансировка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605332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Периодическая оптимизация: товары с высоким спросом перемещаются ближе к выходу — сокращается средний маршрут выдачи.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МЕТРИКИ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Что конкретно улучшает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Каждая метрика измерима в симуляции и переносится на реальный склад после внедрения.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77440"/>
          <a:ext cx="11640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06240"/>
                <a:gridCol w="4599432"/>
              </a:tblGrid>
              <a:tr h="52251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Традиционный склад</a:t>
                      </a:r>
                    </a:p>
                  </a:txBody>
                  <a:tcPr anchor="ctr">
                    <a:solidFill>
                      <a:srgbClr val="0B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С MagSim</a:t>
                      </a:r>
                    </a:p>
                  </a:txBody>
                  <a:tcPr anchor="ctr">
                    <a:solidFill>
                      <a:srgbClr val="0B243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22033"/>
                          </a:solidFill>
                          <a:latin typeface="Segoe UI"/>
                        </a:rPr>
                        <a:t>Скорость выдачи заказа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B6B7C"/>
                          </a:solidFill>
                          <a:latin typeface="Segoe UI"/>
                        </a:rPr>
                        <a:t>Товар в глубине склада, маршрут сотрудника «на глаз»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B7A56"/>
                          </a:solidFill>
                          <a:latin typeface="Segoe UI"/>
                        </a:rPr>
                        <a:t>A* + товары у выхода после ребалансировки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22033"/>
                          </a:solidFill>
                          <a:latin typeface="Segoe UI"/>
                        </a:rPr>
                        <a:t>Простои роботов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B6B7C"/>
                          </a:solidFill>
                          <a:latin typeface="Segoe UI"/>
                        </a:rPr>
                        <a:t>Застревание замечают вручную, реакция — часы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B7A56"/>
                          </a:solidFill>
                          <a:latin typeface="Segoe UI"/>
                        </a:rPr>
                        <a:t>Автодетекция за ~30 секунд и восстановление движения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22033"/>
                          </a:solidFill>
                          <a:latin typeface="Segoe UI"/>
                        </a:rPr>
                        <a:t>Срок службы АКБ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B6B7C"/>
                          </a:solidFill>
                          <a:latin typeface="Segoe UI"/>
                        </a:rPr>
                        <a:t>Замена по отказу, внеплановый простой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B7A56"/>
                          </a:solidFill>
                          <a:latin typeface="Segoe UI"/>
                        </a:rPr>
                        <a:t>Контроль деградации, прогноз ресурса, замена по состоянию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22033"/>
                          </a:solidFill>
                          <a:latin typeface="Segoe UI"/>
                        </a:rPr>
                        <a:t>Пропускная способность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B6B7C"/>
                          </a:solidFill>
                          <a:latin typeface="Segoe UI"/>
                        </a:rPr>
                        <a:t>Доставка 1 позиции за рейс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B7A56"/>
                          </a:solidFill>
                          <a:latin typeface="Segoe UI"/>
                        </a:rPr>
                        <a:t>Батчинг — до ёмкости робота за один рейс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22033"/>
                          </a:solidFill>
                          <a:latin typeface="Segoe UI"/>
                        </a:rPr>
                        <a:t>Надёжность инфраструктуры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B6B7C"/>
                          </a:solidFill>
                          <a:latin typeface="Segoe UI"/>
                        </a:rPr>
                        <a:t>Ручной контроль сервисов и оборудования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B7A56"/>
                          </a:solidFill>
                          <a:latin typeface="Segoe UI"/>
                        </a:rPr>
                        <a:t>Мониторинг 24/7, алерты, автоматические проверки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22033"/>
                          </a:solidFill>
                          <a:latin typeface="Segoe UI"/>
                        </a:rPr>
                        <a:t>Отчётность для заказчика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B6B7C"/>
                          </a:solidFill>
                          <a:latin typeface="Segoe UI"/>
                        </a:rPr>
                        <a:t>Сводный Excel вручную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B7A56"/>
                          </a:solidFill>
                          <a:latin typeface="Segoe UI"/>
                        </a:rPr>
                        <a:t>Автоматические дашборды и выгрузка отчётов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КЛЮЧЕВЫЕ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Система измеряет всё — непрерывно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Каждая операция фиксируется и попадает в дашборды: состояние флота видно в реальном времени и образует базу для отчётов заказчику.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14344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56032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АКБ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00400"/>
            <a:ext cx="300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Заряд и деградация батарей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58768"/>
            <a:ext cx="300228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Каждый робот: текущий заряд, скорость разряда, прогноз остаточного ресурса и время до подзарядки.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1624" y="2286000"/>
            <a:ext cx="3514344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67656" y="256032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СЛА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7656" y="3200400"/>
            <a:ext cx="300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Время выдачи заказа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7656" y="3858768"/>
            <a:ext cx="300228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Ключевой SLA: от запроса клиента до доставки товара к выходу — среднее и по каждой задаче.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74608" y="2286000"/>
            <a:ext cx="3514344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0640" y="256032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ЗАД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0640" y="3200400"/>
            <a:ext cx="300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Выполненные задачи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0640" y="3858768"/>
            <a:ext cx="300228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Размещение, выдача и ребалансировка за период; производительность парка по сменам и суткам.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3514344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709159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ПУТЬ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349240"/>
            <a:ext cx="300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Скорость и дистанция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6007607"/>
            <a:ext cx="300228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Движение каждого РТС и контроль маршрута: видны «лишние» километры и узкие места полок.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1624" y="4434840"/>
            <a:ext cx="3514344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67656" y="4709159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ПРО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7656" y="5349240"/>
            <a:ext cx="300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Застревания и восстановление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7656" y="6007607"/>
            <a:ext cx="300228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Число инцидентов и время реакции: детекция ~30 секунд, робот самостоятельно продолжает маршрут.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4608" y="4434840"/>
            <a:ext cx="3514344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0640" y="4709159"/>
            <a:ext cx="502920" cy="502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ЗАГ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640" y="5349240"/>
            <a:ext cx="300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Загрузка и готовность флота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640" y="6007607"/>
            <a:ext cx="300228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Насколько равномерно заняты роботы и сколько единиц техники доступно в каждый момент времени.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ЭКОНОМИЧЕСКИЙ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Куда конвертируются метрики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3514344" cy="160020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487168"/>
            <a:ext cx="2965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A974"/>
                </a:solidFill>
                <a:latin typeface="Segoe UI"/>
              </a:rPr>
              <a:t>−30%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00400"/>
            <a:ext cx="2965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средний маршрут комплектации за счёт ребалансировки по спросу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24" y="2286000"/>
            <a:ext cx="3514344" cy="160020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85944" y="2487168"/>
            <a:ext cx="2965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A974"/>
                </a:solidFill>
                <a:latin typeface="Segoe UI"/>
              </a:rPr>
              <a:t>×N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5944" y="3200400"/>
            <a:ext cx="2965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выдача за рейс благодаря батчингу задач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4608" y="2286000"/>
            <a:ext cx="3514344" cy="160020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8928" y="2487168"/>
            <a:ext cx="2965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A974"/>
                </a:solidFill>
                <a:latin typeface="Segoe UI"/>
              </a:rPr>
              <a:t>мин.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8928" y="3200400"/>
            <a:ext cx="2965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реакция на застревание робота вместо часов простоя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3514344" cy="160020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498848"/>
            <a:ext cx="2965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9A974"/>
                </a:solidFill>
                <a:latin typeface="Segoe UI"/>
              </a:rPr>
              <a:t>ниже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12080"/>
            <a:ext cx="2965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затраты на АКБ — предиктивная замена по состоянию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1624" y="4297680"/>
            <a:ext cx="3514344" cy="160020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5944" y="4498848"/>
            <a:ext cx="2965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22033"/>
                </a:solidFill>
                <a:latin typeface="Segoe UI"/>
              </a:rPr>
              <a:t>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5944" y="5212080"/>
            <a:ext cx="2965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прозрачный расчёт окупаемости автоматизации до покупки железа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4608" y="4297680"/>
            <a:ext cx="3514344" cy="160020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8928" y="4498848"/>
            <a:ext cx="2965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22033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8928" y="5212080"/>
            <a:ext cx="2965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риск остановки производственного склада при обучении сотрудников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ЧЕЛОВЕЧЕСКИЙ ФАКТОР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Меньше ручного труда — роботы работают 24/7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Автоматизация убирает зависимость склада от смен, усталости и личного опыта сотрудников.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56032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0040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Непрерывная работа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5876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Парк работает всю неделю — 168 часов: нет смен, обедов, больничных, выходных и праздничных простоев.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3116" y="228600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9148" y="256032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9148" y="320040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Стабильное качество без усталости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9148" y="385876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Операция в 03:00 и в обед выполняется одинаково точно — скорость и точность не зависят от часа работы.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709159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3492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Стандартный процесс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007607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Алгоритм выполняет каждую операцию одинаково, без «личных приёмов» сотрудника. Новичков не нужно долго обучать.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3116" y="44348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99148" y="4709159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53492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Меньше ошибок учёта и тяжёлого труда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6007607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БВС проводит инвентаризацию вместо ручного пересчёта, роботы переносят грузы — меньше ошибок и нагрузки на людей.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3514344" cy="1005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3057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9A974"/>
                </a:solidFill>
                <a:latin typeface="Segoe UI"/>
              </a:rPr>
              <a:t>168 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41848"/>
            <a:ext cx="3057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непрерывной работы парка в неделю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1624" y="5074920"/>
            <a:ext cx="3514344" cy="1005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0224" y="5193792"/>
            <a:ext cx="3057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9A974"/>
                </a:solidFill>
                <a:latin typeface="Segoe UI"/>
              </a:rPr>
              <a:t>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0224" y="5641848"/>
            <a:ext cx="3057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без перерывов, смен и выходных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4608" y="5074920"/>
            <a:ext cx="3514344" cy="100584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3208" y="5193792"/>
            <a:ext cx="30571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9A974"/>
                </a:solidFill>
                <a:latin typeface="Segoe U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3208" y="5641848"/>
            <a:ext cx="3057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зависимость от опыта и «личных приёмов» сотрудника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НАДЁЖНОСТЬ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Прозрачность и работа 24/7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Система сама следит за флотом и инфраструктурой и сообщает о проблемах мгновенно.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Дашборды 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4 панели: здоровье батарей, состояние флота (скорость, загрузка, задачи), здоровье стека и тепловая карта интенсивности движения.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3116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9148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9148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Автоматические алерты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9148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Застрявший робот, критический заряд АКБ, деградация батареи, остановка цикла симуляции, недоступность сервиса, падение тестов — без участия человека.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Постоянный контроль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Проверки доступности всех сервисов (HTTP/TCP-пробы) — бэкенд, фронтенд, база данных, панели мониторинга.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3116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99148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История и прогнозы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Телеметрия в TimescaleDB: видна динамика АКБ, прогнозы разряда помогают планировать обслуживание.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Доверие к системе — через автотесты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17 бизнес-сценариев и 8 модулей юнит-тестов проверяют ключевые процессы системы.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Бизнес-сценариев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Поставки с меткой и без, выдача заказов, маршрутизация, ребалансировка, защита от переполнения полок, батарея, застревание, метрики Prometheus.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3116" y="237744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9148" y="26517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9148" y="329184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Модулей юнит-тестов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9148" y="395020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Батарея, сетка склада, поиск пути, метрики, робот, состояние, детекция застревания, менеджер задач.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10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Автоматический прогон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Полный набор тестов выполняется каждые 10 минут в изолированном процессе, результаты видны в дашбордах.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3116" y="4617720"/>
            <a:ext cx="5545836" cy="178308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99148" y="489204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FF6B4A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5532120"/>
            <a:ext cx="50337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Гарантии заказчику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6190488"/>
            <a:ext cx="50337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Каждый сценарий подтверждает: бизнес-процесс работает и метрики достоверны — основание доверять расчётам ROI.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Браузер (3D Three.js) → быстрый бэкенд на FastAPI → «физические» агенты-роботы → база телеметрии и мониторинг.</a:t>
            </a:r>
          </a:p>
        </p:txBody>
      </p:sp>
      <p:pic>
        <p:nvPicPr>
          <p:cNvPr id="5" name="Picture 4" descr="1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394960" cy="2524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33172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Браузер и nginx-фронтенд — 3D-сцена и управление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1866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FastAPI-бэкенд — симуляция, диспетчеризация, REST и WebSocket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201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Агенты РТС/БВС и масштабировщик флота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92159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TimescaleDB — хранение истории и прогнозов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12305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Prometheus + Grafana — метрики и дашборды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22033"/>
                </a:solidFill>
                <a:latin typeface="Segoe UI"/>
              </a:rPr>
              <a:t>Результат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B7C"/>
                </a:solidFill>
                <a:latin typeface="Segoe UI"/>
              </a:rPr>
              <a:t>Обновление состояния каждые 50 мс, двусторонние WebSocket-каналы, автоматическое масштабирование парка роботов в один клик.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РАЗВЁРТЫВАНИЕ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Быстрый запуск на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B7C"/>
                </a:solidFill>
                <a:latin typeface="Segoe UI"/>
              </a:rPr>
              <a:t>Единый стек из 9 сервисов разворачивается командой docker compose up.</a:t>
            </a:r>
          </a:p>
        </p:txBody>
      </p:sp>
      <p:pic>
        <p:nvPicPr>
          <p:cNvPr id="5" name="Picture 4" descr="03_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394960" cy="2394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33172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Бэкенд, фронтенд, парк роботов-агентов, БВС-агент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1866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Автомасштабировщик парка (по числу РТС)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201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22033"/>
                </a:solidFill>
                <a:latin typeface="Segoe UI"/>
              </a:rPr>
              <a:t>TimescaleDB, Grafana, Prometheus, Blackbox Exporter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760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22033"/>
                </a:solidFill>
                <a:latin typeface="Segoe UI"/>
              </a:rPr>
              <a:t>Для бизнеса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B7C"/>
                </a:solidFill>
                <a:latin typeface="Segoe UI"/>
              </a:rPr>
              <a:t>Быстрое развёртывание у заказчика, расширение склада в интерфейсе, проверка сценариев пиковых нагрузок без риска для производства.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ВНЕДРЕНИЕ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22033"/>
                </a:solidFill>
                <a:latin typeface="Segoe UI"/>
              </a:rPr>
              <a:t>Дорожная карта для заказчика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498598" cy="301752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06040"/>
            <a:ext cx="2041398" cy="82296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20413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ЭТАП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0413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Оцифровка склада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20413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C"/>
                </a:solidFill>
                <a:latin typeface="Segoe UI"/>
              </a:rPr>
              <a:t>Переносим карту, товары, потоки и ограничения заказчика в цифровую модель.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5878" y="2377440"/>
            <a:ext cx="2498598" cy="301752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24478" y="2606040"/>
            <a:ext cx="2041398" cy="82296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4478" y="2788920"/>
            <a:ext cx="20413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ЭТАП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4478" y="3200400"/>
            <a:ext cx="20413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Прогон сценариев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4478" y="3931920"/>
            <a:ext cx="20413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C"/>
                </a:solidFill>
                <a:latin typeface="Segoe UI"/>
              </a:rPr>
              <a:t>Проверяем пиковые сезоны, сбои, нехватку персонала и отказы оборудования.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3116" y="2377440"/>
            <a:ext cx="2498598" cy="301752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1716" y="2606040"/>
            <a:ext cx="2041398" cy="82296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1716" y="2788920"/>
            <a:ext cx="20413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ЭТАП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3200400"/>
            <a:ext cx="20413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Расчёт KPI и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1716" y="3931920"/>
            <a:ext cx="20413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C"/>
                </a:solidFill>
                <a:latin typeface="Segoe UI"/>
              </a:rPr>
              <a:t>Измеряем скорость выдачи, простои, загрузку и окупаемость автоматизации.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0354" y="2377440"/>
            <a:ext cx="2498598" cy="301752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18954" y="2606040"/>
            <a:ext cx="2041398" cy="82296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8954" y="2788920"/>
            <a:ext cx="20413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9A974"/>
                </a:solidFill>
                <a:latin typeface="Segoe UI"/>
              </a:rPr>
              <a:t>ЭТАП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8954" y="3200400"/>
            <a:ext cx="20413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22033"/>
                </a:solidFill>
                <a:latin typeface="Segoe UI"/>
              </a:rPr>
              <a:t>Безопасный переход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8954" y="3931920"/>
            <a:ext cx="20413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C"/>
                </a:solidFill>
                <a:latin typeface="Segoe UI"/>
              </a:rPr>
              <a:t>Проверенные алгоритмы переносятся на реальные роботы — без «сюрпризов» на действующем складе.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710160" cy="7315200"/>
          </a:xfrm>
          <a:prstGeom prst="rect">
            <a:avLst/>
          </a:prstGeom>
          <a:solidFill>
            <a:srgbClr val="0B2438"/>
          </a:solidFill>
          <a:ln w="12700">
            <a:solidFill>
              <a:srgbClr val="0B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D54A"/>
                </a:solidFill>
                <a:latin typeface="Segoe UI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Ошибку пусть делает симуляция, а не склад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B9CFE0"/>
                </a:solidFill>
                <a:latin typeface="Segoe UI"/>
              </a:rPr>
              <a:t>MagSim даёт заказчику прозрачные метрики, обоснованное решение об автоматизации и готовый к проверке алгоритм управления флотом роботов.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FE0"/>
                </a:solidFill>
                <a:latin typeface="Segoe UI"/>
              </a:rPr>
              <a:t>Приглашаем на демонстрацию: запустим ваш сценарий в течение 2 недель и покажем эффект в цифрах — скорость выдачи, простой, срок жизни батарей, окупаемость.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